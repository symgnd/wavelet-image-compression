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2" r:id="rId1"/>
  </p:sldMasterIdLst>
  <p:sldIdLst>
    <p:sldId id="256" r:id="rId2"/>
    <p:sldId id="257" r:id="rId3"/>
    <p:sldId id="258" r:id="rId4"/>
    <p:sldId id="260" r:id="rId5"/>
    <p:sldId id="262" r:id="rId6"/>
    <p:sldId id="261" r:id="rId7"/>
    <p:sldId id="263" r:id="rId8"/>
    <p:sldId id="259"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Varsayılan Bölüm" id="{72057B24-EF33-4A0E-AE03-4892BE9868A9}">
          <p14:sldIdLst>
            <p14:sldId id="256"/>
            <p14:sldId id="257"/>
            <p14:sldId id="258"/>
            <p14:sldId id="260"/>
            <p14:sldId id="262"/>
            <p14:sldId id="261"/>
            <p14:sldId id="263"/>
            <p14:sldId id="259"/>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Orta Stil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4" d="100"/>
          <a:sy n="114" d="100"/>
        </p:scale>
        <p:origin x="41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tr-TR"/>
              <a:t>Asıl başlık stilini düzenlemek için tıklayın</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endParaRPr lang="en-US" dirty="0"/>
          </a:p>
        </p:txBody>
      </p:sp>
      <p:sp>
        <p:nvSpPr>
          <p:cNvPr id="4" name="Date Placeholder 3"/>
          <p:cNvSpPr>
            <a:spLocks noGrp="1"/>
          </p:cNvSpPr>
          <p:nvPr>
            <p:ph type="dt" sz="half" idx="10"/>
          </p:nvPr>
        </p:nvSpPr>
        <p:spPr/>
        <p:txBody>
          <a:bodyPr/>
          <a:lstStyle/>
          <a:p>
            <a:fld id="{D1D0CAF3-7AB9-4458-8023-9D185DEA89DE}" type="datetimeFigureOut">
              <a:rPr lang="en-US" smtClean="0"/>
              <a:t>6/8/2023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6EF1565-5D80-41BF-8E6B-AF42341BBDBF}" type="slidenum">
              <a:rPr lang="en-US" smtClean="0"/>
              <a:t>‹#›</a:t>
            </a:fld>
            <a:endParaRPr lang="en-US"/>
          </a:p>
        </p:txBody>
      </p:sp>
    </p:spTree>
    <p:extLst>
      <p:ext uri="{BB962C8B-B14F-4D97-AF65-F5344CB8AC3E}">
        <p14:creationId xmlns:p14="http://schemas.microsoft.com/office/powerpoint/2010/main" val="15647929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D1D0CAF3-7AB9-4458-8023-9D185DEA89DE}" type="datetimeFigureOut">
              <a:rPr lang="en-US" smtClean="0"/>
              <a:t>6/8/2023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6EF1565-5D80-41BF-8E6B-AF42341BBDBF}" type="slidenum">
              <a:rPr lang="en-US" smtClean="0"/>
              <a:t>‹#›</a:t>
            </a:fld>
            <a:endParaRPr lang="en-US"/>
          </a:p>
        </p:txBody>
      </p:sp>
    </p:spTree>
    <p:extLst>
      <p:ext uri="{BB962C8B-B14F-4D97-AF65-F5344CB8AC3E}">
        <p14:creationId xmlns:p14="http://schemas.microsoft.com/office/powerpoint/2010/main" val="13590489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tr-TR"/>
              <a:t>Asıl başlık stilini düzenlemek için tıklayın</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D1D0CAF3-7AB9-4458-8023-9D185DEA89DE}" type="datetimeFigureOut">
              <a:rPr lang="en-US" smtClean="0"/>
              <a:t>6/8/2023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6EF1565-5D80-41BF-8E6B-AF42341BBDBF}" type="slidenum">
              <a:rPr lang="en-US" smtClean="0"/>
              <a:t>‹#›</a:t>
            </a:fld>
            <a:endParaRPr lang="en-US"/>
          </a:p>
        </p:txBody>
      </p:sp>
    </p:spTree>
    <p:extLst>
      <p:ext uri="{BB962C8B-B14F-4D97-AF65-F5344CB8AC3E}">
        <p14:creationId xmlns:p14="http://schemas.microsoft.com/office/powerpoint/2010/main" val="33686141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tr-TR"/>
              <a:t>Asıl başlık stilini düzenlemek için tıklayın</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D1D0CAF3-7AB9-4458-8023-9D185DEA89DE}" type="datetimeFigureOut">
              <a:rPr lang="en-US" smtClean="0"/>
              <a:t>6/8/2023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6EF1565-5D80-41BF-8E6B-AF42341BBDBF}" type="slidenum">
              <a:rPr lang="en-US" smtClean="0"/>
              <a:t>‹#›</a:t>
            </a:fld>
            <a:endParaRPr lang="en-US"/>
          </a:p>
        </p:txBody>
      </p:sp>
    </p:spTree>
    <p:extLst>
      <p:ext uri="{BB962C8B-B14F-4D97-AF65-F5344CB8AC3E}">
        <p14:creationId xmlns:p14="http://schemas.microsoft.com/office/powerpoint/2010/main" val="2157770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tr-TR"/>
              <a:t>Asıl başlık stilini düzenlemek için tıklayın</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Content Placeholder 3"/>
          <p:cNvSpPr>
            <a:spLocks noGrp="1"/>
          </p:cNvSpPr>
          <p:nvPr>
            <p:ph sz="half" idx="2"/>
          </p:nvPr>
        </p:nvSpPr>
        <p:spPr>
          <a:xfrm>
            <a:off x="913795" y="2912232"/>
            <a:ext cx="5107208" cy="287896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Content Placeholder 5"/>
          <p:cNvSpPr>
            <a:spLocks noGrp="1"/>
          </p:cNvSpPr>
          <p:nvPr>
            <p:ph sz="quarter" idx="4"/>
          </p:nvPr>
        </p:nvSpPr>
        <p:spPr>
          <a:xfrm>
            <a:off x="6172200" y="2912232"/>
            <a:ext cx="5095357" cy="287896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D1D0CAF3-7AB9-4458-8023-9D185DEA89DE}" type="datetimeFigureOut">
              <a:rPr lang="en-US" smtClean="0"/>
              <a:t>6/8/2023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6EF1565-5D80-41BF-8E6B-AF42341BBDBF}" type="slidenum">
              <a:rPr lang="en-US" smtClean="0"/>
              <a:t>‹#›</a:t>
            </a:fld>
            <a:endParaRPr lang="en-US"/>
          </a:p>
        </p:txBody>
      </p:sp>
    </p:spTree>
    <p:extLst>
      <p:ext uri="{BB962C8B-B14F-4D97-AF65-F5344CB8AC3E}">
        <p14:creationId xmlns:p14="http://schemas.microsoft.com/office/powerpoint/2010/main" val="382602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Date Placeholder 2"/>
          <p:cNvSpPr>
            <a:spLocks noGrp="1"/>
          </p:cNvSpPr>
          <p:nvPr>
            <p:ph type="dt" sz="half" idx="10"/>
          </p:nvPr>
        </p:nvSpPr>
        <p:spPr/>
        <p:txBody>
          <a:bodyPr/>
          <a:lstStyle/>
          <a:p>
            <a:fld id="{D1D0CAF3-7AB9-4458-8023-9D185DEA89DE}" type="datetimeFigureOut">
              <a:rPr lang="en-US" smtClean="0"/>
              <a:t>6/8/2023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6EF1565-5D80-41BF-8E6B-AF42341BBDBF}" type="slidenum">
              <a:rPr lang="en-US" smtClean="0"/>
              <a:t>‹#›</a:t>
            </a:fld>
            <a:endParaRPr lang="en-US"/>
          </a:p>
        </p:txBody>
      </p:sp>
    </p:spTree>
    <p:extLst>
      <p:ext uri="{BB962C8B-B14F-4D97-AF65-F5344CB8AC3E}">
        <p14:creationId xmlns:p14="http://schemas.microsoft.com/office/powerpoint/2010/main" val="17448901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1D0CAF3-7AB9-4458-8023-9D185DEA89DE}" type="datetimeFigureOut">
              <a:rPr lang="en-US" smtClean="0"/>
              <a:t>6/8/2023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6EF1565-5D80-41BF-8E6B-AF42341BBDBF}" type="slidenum">
              <a:rPr lang="en-US" smtClean="0"/>
              <a:t>‹#›</a:t>
            </a:fld>
            <a:endParaRPr lang="en-US"/>
          </a:p>
        </p:txBody>
      </p:sp>
    </p:spTree>
    <p:extLst>
      <p:ext uri="{BB962C8B-B14F-4D97-AF65-F5344CB8AC3E}">
        <p14:creationId xmlns:p14="http://schemas.microsoft.com/office/powerpoint/2010/main" val="24583523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tr-TR"/>
              <a:t>Asıl başlık stilini düzenlemek için tıklayın</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D1D0CAF3-7AB9-4458-8023-9D185DEA89DE}" type="datetimeFigureOut">
              <a:rPr lang="en-US" smtClean="0"/>
              <a:t>6/8/2023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6EF1565-5D80-41BF-8E6B-AF42341BBDBF}" type="slidenum">
              <a:rPr lang="en-US" smtClean="0"/>
              <a:t>‹#›</a:t>
            </a:fld>
            <a:endParaRPr lang="en-US"/>
          </a:p>
        </p:txBody>
      </p:sp>
    </p:spTree>
    <p:extLst>
      <p:ext uri="{BB962C8B-B14F-4D97-AF65-F5344CB8AC3E}">
        <p14:creationId xmlns:p14="http://schemas.microsoft.com/office/powerpoint/2010/main" val="2458518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a:t>Resim eklemek için simgeye tıklayın</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D1D0CAF3-7AB9-4458-8023-9D185DEA89DE}" type="datetimeFigureOut">
              <a:rPr lang="en-US" smtClean="0"/>
              <a:t>6/8/2023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6EF1565-5D80-41BF-8E6B-AF42341BBDBF}" type="slidenum">
              <a:rPr lang="en-US" smtClean="0"/>
              <a:t>‹#›</a:t>
            </a:fld>
            <a:endParaRPr lang="en-US"/>
          </a:p>
        </p:txBody>
      </p:sp>
    </p:spTree>
    <p:extLst>
      <p:ext uri="{BB962C8B-B14F-4D97-AF65-F5344CB8AC3E}">
        <p14:creationId xmlns:p14="http://schemas.microsoft.com/office/powerpoint/2010/main" val="29764828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Yazılı Panoramik Resim">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a:t>Resim eklemek için simgeye tıklayın</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D1D0CAF3-7AB9-4458-8023-9D185DEA89DE}" type="datetimeFigureOut">
              <a:rPr lang="en-US" smtClean="0"/>
              <a:t>6/8/2023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6EF1565-5D80-41BF-8E6B-AF42341BBDBF}" type="slidenum">
              <a:rPr lang="en-US" smtClean="0"/>
              <a:t>‹#›</a:t>
            </a:fld>
            <a:endParaRPr lang="en-US"/>
          </a:p>
        </p:txBody>
      </p:sp>
    </p:spTree>
    <p:extLst>
      <p:ext uri="{BB962C8B-B14F-4D97-AF65-F5344CB8AC3E}">
        <p14:creationId xmlns:p14="http://schemas.microsoft.com/office/powerpoint/2010/main" val="24517484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Başlık ve Resim Yazısı">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tr-TR"/>
              <a:t>Asıl başlık stilini düzenlemek için tıklayın</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D1D0CAF3-7AB9-4458-8023-9D185DEA89DE}" type="datetimeFigureOut">
              <a:rPr lang="en-US" smtClean="0"/>
              <a:t>6/8/2023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6EF1565-5D80-41BF-8E6B-AF42341BBDBF}" type="slidenum">
              <a:rPr lang="en-US" smtClean="0"/>
              <a:t>‹#›</a:t>
            </a:fld>
            <a:endParaRPr lang="en-US"/>
          </a:p>
        </p:txBody>
      </p:sp>
    </p:spTree>
    <p:extLst>
      <p:ext uri="{BB962C8B-B14F-4D97-AF65-F5344CB8AC3E}">
        <p14:creationId xmlns:p14="http://schemas.microsoft.com/office/powerpoint/2010/main" val="29171075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Resim Yazılı Alıntı">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tr-TR"/>
              <a:t>Asıl başlık stilini düzenlemek için tıklayın</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D1D0CAF3-7AB9-4458-8023-9D185DEA89DE}" type="datetimeFigureOut">
              <a:rPr lang="en-US" smtClean="0"/>
              <a:t>6/8/2023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6EF1565-5D80-41BF-8E6B-AF42341BBDBF}" type="slidenum">
              <a:rPr lang="en-US" smtClean="0"/>
              <a:t>‹#›</a:t>
            </a:fld>
            <a:endParaRPr lang="en-US"/>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7587161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İsim Kartı">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tr-TR"/>
              <a:t>Asıl başlık stilini düzenlemek için tıklayın</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D1D0CAF3-7AB9-4458-8023-9D185DEA89DE}" type="datetimeFigureOut">
              <a:rPr lang="en-US" smtClean="0"/>
              <a:t>6/8/2023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6EF1565-5D80-41BF-8E6B-AF42341BBDBF}" type="slidenum">
              <a:rPr lang="en-US" smtClean="0"/>
              <a:t>‹#›</a:t>
            </a:fld>
            <a:endParaRPr lang="en-US"/>
          </a:p>
        </p:txBody>
      </p:sp>
    </p:spTree>
    <p:extLst>
      <p:ext uri="{BB962C8B-B14F-4D97-AF65-F5344CB8AC3E}">
        <p14:creationId xmlns:p14="http://schemas.microsoft.com/office/powerpoint/2010/main" val="7274897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Sütu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tr-TR"/>
              <a:t>Asıl başlık stilini düzenlemek için tıklayın</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3" name="Date Placeholder 2"/>
          <p:cNvSpPr>
            <a:spLocks noGrp="1"/>
          </p:cNvSpPr>
          <p:nvPr>
            <p:ph type="dt" sz="half" idx="10"/>
          </p:nvPr>
        </p:nvSpPr>
        <p:spPr/>
        <p:txBody>
          <a:bodyPr/>
          <a:lstStyle/>
          <a:p>
            <a:fld id="{D1D0CAF3-7AB9-4458-8023-9D185DEA89DE}" type="datetimeFigureOut">
              <a:rPr lang="en-US" smtClean="0"/>
              <a:t>6/8/2023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6EF1565-5D80-41BF-8E6B-AF42341BBDBF}" type="slidenum">
              <a:rPr lang="en-US" smtClean="0"/>
              <a:t>‹#›</a:t>
            </a:fld>
            <a:endParaRPr lang="en-US"/>
          </a:p>
        </p:txBody>
      </p:sp>
    </p:spTree>
    <p:extLst>
      <p:ext uri="{BB962C8B-B14F-4D97-AF65-F5344CB8AC3E}">
        <p14:creationId xmlns:p14="http://schemas.microsoft.com/office/powerpoint/2010/main" val="37396119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Resim Sütunu">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tr-TR"/>
              <a:t>Asıl başlık stilini düzenlemek için tıklayın</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3" name="Date Placeholder 2"/>
          <p:cNvSpPr>
            <a:spLocks noGrp="1"/>
          </p:cNvSpPr>
          <p:nvPr>
            <p:ph type="dt" sz="half" idx="10"/>
          </p:nvPr>
        </p:nvSpPr>
        <p:spPr/>
        <p:txBody>
          <a:bodyPr/>
          <a:lstStyle/>
          <a:p>
            <a:fld id="{D1D0CAF3-7AB9-4458-8023-9D185DEA89DE}" type="datetimeFigureOut">
              <a:rPr lang="en-US" smtClean="0"/>
              <a:t>6/8/2023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6EF1565-5D80-41BF-8E6B-AF42341BBDBF}" type="slidenum">
              <a:rPr lang="en-US" smtClean="0"/>
              <a:t>‹#›</a:t>
            </a:fld>
            <a:endParaRPr lang="en-US"/>
          </a:p>
        </p:txBody>
      </p:sp>
    </p:spTree>
    <p:extLst>
      <p:ext uri="{BB962C8B-B14F-4D97-AF65-F5344CB8AC3E}">
        <p14:creationId xmlns:p14="http://schemas.microsoft.com/office/powerpoint/2010/main" val="12332772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Vertical Text Placeholder 2"/>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D1D0CAF3-7AB9-4458-8023-9D185DEA89DE}" type="datetimeFigureOut">
              <a:rPr lang="en-US" smtClean="0"/>
              <a:t>6/8/2023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6EF1565-5D80-41BF-8E6B-AF42341BBDBF}" type="slidenum">
              <a:rPr lang="en-US" smtClean="0"/>
              <a:t>‹#›</a:t>
            </a:fld>
            <a:endParaRPr lang="en-US"/>
          </a:p>
        </p:txBody>
      </p:sp>
    </p:spTree>
    <p:extLst>
      <p:ext uri="{BB962C8B-B14F-4D97-AF65-F5344CB8AC3E}">
        <p14:creationId xmlns:p14="http://schemas.microsoft.com/office/powerpoint/2010/main" val="38827686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D1D0CAF3-7AB9-4458-8023-9D185DEA89DE}" type="datetimeFigureOut">
              <a:rPr lang="en-US" smtClean="0"/>
              <a:t>6/8/2023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6EF1565-5D80-41BF-8E6B-AF42341BBDBF}" type="slidenum">
              <a:rPr lang="en-US" smtClean="0"/>
              <a:t>‹#›</a:t>
            </a:fld>
            <a:endParaRPr lang="en-US"/>
          </a:p>
        </p:txBody>
      </p:sp>
    </p:spTree>
    <p:extLst>
      <p:ext uri="{BB962C8B-B14F-4D97-AF65-F5344CB8AC3E}">
        <p14:creationId xmlns:p14="http://schemas.microsoft.com/office/powerpoint/2010/main" val="25044406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tr-TR"/>
              <a:t>Asıl başlık stilini düzenlemek için tıklayın</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D1D0CAF3-7AB9-4458-8023-9D185DEA89DE}" type="datetimeFigureOut">
              <a:rPr lang="en-US" smtClean="0"/>
              <a:t>6/8/2023</a:t>
            </a:fld>
            <a:endParaRPr lang="en-US"/>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16EF1565-5D80-41BF-8E6B-AF42341BBDBF}" type="slidenum">
              <a:rPr lang="en-US" smtClean="0"/>
              <a:t>‹#›</a:t>
            </a:fld>
            <a:endParaRPr lang="en-US"/>
          </a:p>
        </p:txBody>
      </p:sp>
    </p:spTree>
    <p:extLst>
      <p:ext uri="{BB962C8B-B14F-4D97-AF65-F5344CB8AC3E}">
        <p14:creationId xmlns:p14="http://schemas.microsoft.com/office/powerpoint/2010/main" val="3078184067"/>
      </p:ext>
    </p:extLst>
  </p:cSld>
  <p:clrMap bg1="dk1" tx1="lt1" bg2="dk2" tx2="lt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 id="2147483774" r:id="rId12"/>
    <p:sldLayoutId id="2147483775" r:id="rId13"/>
    <p:sldLayoutId id="2147483776" r:id="rId14"/>
    <p:sldLayoutId id="2147483777" r:id="rId15"/>
    <p:sldLayoutId id="2147483778" r:id="rId16"/>
    <p:sldLayoutId id="2147483779"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en.wikipedia.org/wiki/Wavelet_transform" TargetMode="External"/><Relationship Id="rId2" Type="http://schemas.openxmlformats.org/officeDocument/2006/relationships/hyperlink" Target="https://www.mathworks.com/help/wavelet/ref/ewt.html" TargetMode="External"/><Relationship Id="rId1" Type="http://schemas.openxmlformats.org/officeDocument/2006/relationships/slideLayout" Target="../slideLayouts/slideLayout2.xml"/><Relationship Id="rId5" Type="http://schemas.openxmlformats.org/officeDocument/2006/relationships/hyperlink" Target="https://en.wikipedia.org/wiki/Image_compression" TargetMode="External"/><Relationship Id="rId4" Type="http://schemas.openxmlformats.org/officeDocument/2006/relationships/hyperlink" Target="http://dx.doi.org/10.4236/jsip.2013.41004"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FD877C3-6CC7-62E3-0DA0-3336A6EAE343}"/>
              </a:ext>
            </a:extLst>
          </p:cNvPr>
          <p:cNvSpPr>
            <a:spLocks noGrp="1"/>
          </p:cNvSpPr>
          <p:nvPr>
            <p:ph type="ctrTitle"/>
          </p:nvPr>
        </p:nvSpPr>
        <p:spPr/>
        <p:txBody>
          <a:bodyPr/>
          <a:lstStyle/>
          <a:p>
            <a:r>
              <a:rPr lang="en-US" dirty="0"/>
              <a:t>Image </a:t>
            </a:r>
            <a:r>
              <a:rPr lang="en-US" dirty="0" err="1"/>
              <a:t>compressıon</a:t>
            </a:r>
            <a:endParaRPr lang="en-US" dirty="0"/>
          </a:p>
        </p:txBody>
      </p:sp>
      <p:sp>
        <p:nvSpPr>
          <p:cNvPr id="3" name="Alt Başlık 2">
            <a:extLst>
              <a:ext uri="{FF2B5EF4-FFF2-40B4-BE49-F238E27FC236}">
                <a16:creationId xmlns:a16="http://schemas.microsoft.com/office/drawing/2014/main" id="{E99B7621-3C23-286E-F9F6-56CA8FFABA07}"/>
              </a:ext>
            </a:extLst>
          </p:cNvPr>
          <p:cNvSpPr>
            <a:spLocks noGrp="1"/>
          </p:cNvSpPr>
          <p:nvPr>
            <p:ph type="subTitle" idx="1"/>
          </p:nvPr>
        </p:nvSpPr>
        <p:spPr/>
        <p:txBody>
          <a:bodyPr/>
          <a:lstStyle/>
          <a:p>
            <a:r>
              <a:rPr lang="en-US" dirty="0"/>
              <a:t>Seyma Serttas 1804969</a:t>
            </a:r>
          </a:p>
          <a:p>
            <a:r>
              <a:rPr lang="en-US" dirty="0"/>
              <a:t>Dr. </a:t>
            </a:r>
            <a:r>
              <a:rPr lang="en-US" dirty="0" err="1"/>
              <a:t>Lavdie</a:t>
            </a:r>
            <a:r>
              <a:rPr lang="en-US" dirty="0"/>
              <a:t> Rada Ulgen</a:t>
            </a:r>
          </a:p>
        </p:txBody>
      </p:sp>
    </p:spTree>
    <p:extLst>
      <p:ext uri="{BB962C8B-B14F-4D97-AF65-F5344CB8AC3E}">
        <p14:creationId xmlns:p14="http://schemas.microsoft.com/office/powerpoint/2010/main" val="16539711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73DAE68-2701-5161-FE86-8C3F326358D1}"/>
              </a:ext>
            </a:extLst>
          </p:cNvPr>
          <p:cNvSpPr>
            <a:spLocks noGrp="1"/>
          </p:cNvSpPr>
          <p:nvPr>
            <p:ph type="title"/>
          </p:nvPr>
        </p:nvSpPr>
        <p:spPr/>
        <p:txBody>
          <a:bodyPr/>
          <a:lstStyle/>
          <a:p>
            <a:r>
              <a:rPr lang="en-US" dirty="0"/>
              <a:t>What </a:t>
            </a:r>
            <a:r>
              <a:rPr lang="en-US" dirty="0" err="1"/>
              <a:t>ıs</a:t>
            </a:r>
            <a:r>
              <a:rPr lang="en-US" dirty="0"/>
              <a:t> </a:t>
            </a:r>
            <a:r>
              <a:rPr lang="en-US" dirty="0" err="1"/>
              <a:t>ımage</a:t>
            </a:r>
            <a:r>
              <a:rPr lang="en-US" dirty="0"/>
              <a:t> </a:t>
            </a:r>
            <a:r>
              <a:rPr lang="en-US" dirty="0" err="1"/>
              <a:t>compressıon</a:t>
            </a:r>
            <a:r>
              <a:rPr lang="en-US" dirty="0"/>
              <a:t>?</a:t>
            </a:r>
          </a:p>
        </p:txBody>
      </p:sp>
      <p:sp>
        <p:nvSpPr>
          <p:cNvPr id="3" name="İçerik Yer Tutucusu 2">
            <a:extLst>
              <a:ext uri="{FF2B5EF4-FFF2-40B4-BE49-F238E27FC236}">
                <a16:creationId xmlns:a16="http://schemas.microsoft.com/office/drawing/2014/main" id="{126730E2-A4D9-14D1-6667-3245FC7F2C2E}"/>
              </a:ext>
            </a:extLst>
          </p:cNvPr>
          <p:cNvSpPr>
            <a:spLocks noGrp="1"/>
          </p:cNvSpPr>
          <p:nvPr>
            <p:ph idx="1"/>
          </p:nvPr>
        </p:nvSpPr>
        <p:spPr/>
        <p:txBody>
          <a:bodyPr/>
          <a:lstStyle/>
          <a:p>
            <a:r>
              <a:rPr lang="en-US" b="0" i="0" dirty="0">
                <a:solidFill>
                  <a:srgbClr val="BDB7AF"/>
                </a:solidFill>
                <a:effectLst/>
                <a:latin typeface="Söhne"/>
              </a:rPr>
              <a:t>Image compression refers to the process of reducing the size of an image file while attempting to maintain its visual quality. The purpose of image compression is to minimize the storage space required to store images or to reduce the bandwidth needed for transmitting them over networks. Compression techniques achieve this reduction by removing redundant or irrelevant information from the image data.</a:t>
            </a:r>
            <a:endParaRPr lang="en-US" dirty="0"/>
          </a:p>
        </p:txBody>
      </p:sp>
    </p:spTree>
    <p:extLst>
      <p:ext uri="{BB962C8B-B14F-4D97-AF65-F5344CB8AC3E}">
        <p14:creationId xmlns:p14="http://schemas.microsoft.com/office/powerpoint/2010/main" val="35845020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72C8D67-A47D-BC87-8E7E-5BB238F2613A}"/>
              </a:ext>
            </a:extLst>
          </p:cNvPr>
          <p:cNvSpPr>
            <a:spLocks noGrp="1"/>
          </p:cNvSpPr>
          <p:nvPr>
            <p:ph type="title"/>
          </p:nvPr>
        </p:nvSpPr>
        <p:spPr>
          <a:xfrm>
            <a:off x="913795" y="609600"/>
            <a:ext cx="10353761" cy="1326321"/>
          </a:xfrm>
        </p:spPr>
        <p:txBody>
          <a:bodyPr/>
          <a:lstStyle/>
          <a:p>
            <a:r>
              <a:rPr lang="en-US" dirty="0"/>
              <a:t>Lossless vs. lossy</a:t>
            </a:r>
          </a:p>
        </p:txBody>
      </p:sp>
      <p:graphicFrame>
        <p:nvGraphicFramePr>
          <p:cNvPr id="4" name="Tablo 4">
            <a:extLst>
              <a:ext uri="{FF2B5EF4-FFF2-40B4-BE49-F238E27FC236}">
                <a16:creationId xmlns:a16="http://schemas.microsoft.com/office/drawing/2014/main" id="{2BCC0969-4914-D4E4-87A7-EE2744609330}"/>
              </a:ext>
            </a:extLst>
          </p:cNvPr>
          <p:cNvGraphicFramePr>
            <a:graphicFrameLocks noGrp="1"/>
          </p:cNvGraphicFramePr>
          <p:nvPr>
            <p:ph idx="1"/>
            <p:extLst>
              <p:ext uri="{D42A27DB-BD31-4B8C-83A1-F6EECF244321}">
                <p14:modId xmlns:p14="http://schemas.microsoft.com/office/powerpoint/2010/main" val="839013556"/>
              </p:ext>
            </p:extLst>
          </p:nvPr>
        </p:nvGraphicFramePr>
        <p:xfrm>
          <a:off x="914400" y="1794905"/>
          <a:ext cx="10353676" cy="4145487"/>
        </p:xfrm>
        <a:graphic>
          <a:graphicData uri="http://schemas.openxmlformats.org/drawingml/2006/table">
            <a:tbl>
              <a:tblPr firstRow="1" bandRow="1">
                <a:tableStyleId>{073A0DAA-6AF3-43AB-8588-CEC1D06C72B9}</a:tableStyleId>
              </a:tblPr>
              <a:tblGrid>
                <a:gridCol w="5176838">
                  <a:extLst>
                    <a:ext uri="{9D8B030D-6E8A-4147-A177-3AD203B41FA5}">
                      <a16:colId xmlns:a16="http://schemas.microsoft.com/office/drawing/2014/main" val="3483087111"/>
                    </a:ext>
                  </a:extLst>
                </a:gridCol>
                <a:gridCol w="5176838">
                  <a:extLst>
                    <a:ext uri="{9D8B030D-6E8A-4147-A177-3AD203B41FA5}">
                      <a16:colId xmlns:a16="http://schemas.microsoft.com/office/drawing/2014/main" val="3906155247"/>
                    </a:ext>
                  </a:extLst>
                </a:gridCol>
              </a:tblGrid>
              <a:tr h="762207">
                <a:tc>
                  <a:txBody>
                    <a:bodyPr/>
                    <a:lstStyle/>
                    <a:p>
                      <a:pPr algn="ctr"/>
                      <a:r>
                        <a:rPr lang="en-US" sz="2800" dirty="0"/>
                        <a:t>Lossless</a:t>
                      </a:r>
                    </a:p>
                  </a:txBody>
                  <a:tcPr/>
                </a:tc>
                <a:tc>
                  <a:txBody>
                    <a:bodyPr/>
                    <a:lstStyle/>
                    <a:p>
                      <a:pPr algn="ctr"/>
                      <a:r>
                        <a:rPr lang="en-US" sz="2800" dirty="0"/>
                        <a:t>Lossy</a:t>
                      </a:r>
                    </a:p>
                  </a:txBody>
                  <a:tcPr/>
                </a:tc>
                <a:extLst>
                  <a:ext uri="{0D108BD9-81ED-4DB2-BD59-A6C34878D82A}">
                    <a16:rowId xmlns:a16="http://schemas.microsoft.com/office/drawing/2014/main" val="3539021602"/>
                  </a:ext>
                </a:extLst>
              </a:tr>
              <a:tr h="751766">
                <a:tc>
                  <a:txBody>
                    <a:bodyPr/>
                    <a:lstStyle/>
                    <a:p>
                      <a:r>
                        <a:rPr lang="en-US" dirty="0"/>
                        <a:t>Lossless compression algorithms reduce the file size without losing any image data. These algorithms achieve compression by identifying and eliminating redundant information in the image. </a:t>
                      </a:r>
                      <a:r>
                        <a:rPr lang="en-US" sz="1800" b="0" i="0" kern="1200" dirty="0">
                          <a:solidFill>
                            <a:schemeClr val="dk1"/>
                          </a:solidFill>
                          <a:effectLst/>
                          <a:latin typeface="+mn-lt"/>
                          <a:ea typeface="+mn-ea"/>
                          <a:cs typeface="+mn-cs"/>
                        </a:rPr>
                        <a:t>Examples of lossless compression formats include PNG (Portable Network Graphics) and GIF (Graphics Interchange Format). When a </a:t>
                      </a:r>
                      <a:r>
                        <a:rPr lang="en-US" sz="1800" b="0" i="0" kern="1200" dirty="0" err="1">
                          <a:solidFill>
                            <a:schemeClr val="dk1"/>
                          </a:solidFill>
                          <a:effectLst/>
                          <a:latin typeface="+mn-lt"/>
                          <a:ea typeface="+mn-ea"/>
                          <a:cs typeface="+mn-cs"/>
                        </a:rPr>
                        <a:t>losslessly</a:t>
                      </a:r>
                      <a:r>
                        <a:rPr lang="en-US" sz="1800" b="0" i="0" kern="1200" dirty="0">
                          <a:solidFill>
                            <a:schemeClr val="dk1"/>
                          </a:solidFill>
                          <a:effectLst/>
                          <a:latin typeface="+mn-lt"/>
                          <a:ea typeface="+mn-ea"/>
                          <a:cs typeface="+mn-cs"/>
                        </a:rPr>
                        <a:t> compressed image is decompressed, it will be identical to the original image.</a:t>
                      </a:r>
                      <a:endParaRPr lang="en-US" dirty="0"/>
                    </a:p>
                  </a:txBody>
                  <a:tcPr/>
                </a:tc>
                <a:tc>
                  <a:txBody>
                    <a:bodyPr/>
                    <a:lstStyle/>
                    <a:p>
                      <a:r>
                        <a:rPr lang="en-US" sz="1800" b="0" i="0" kern="1200" dirty="0">
                          <a:solidFill>
                            <a:schemeClr val="dk1"/>
                          </a:solidFill>
                          <a:effectLst/>
                          <a:latin typeface="+mn-lt"/>
                          <a:ea typeface="+mn-ea"/>
                          <a:cs typeface="+mn-cs"/>
                        </a:rPr>
                        <a:t>Lossy compression algorithms achieve higher compression ratios by selectively discarding some image data that may be considered less important to the human visual system. Popular lossy compression formats include JPEG (Joint Photographic Experts Group) and </a:t>
                      </a:r>
                      <a:r>
                        <a:rPr lang="en-US" sz="1800" b="0" i="0" kern="1200" dirty="0" err="1">
                          <a:solidFill>
                            <a:schemeClr val="dk1"/>
                          </a:solidFill>
                          <a:effectLst/>
                          <a:latin typeface="+mn-lt"/>
                          <a:ea typeface="+mn-ea"/>
                          <a:cs typeface="+mn-cs"/>
                        </a:rPr>
                        <a:t>WebP</a:t>
                      </a:r>
                      <a:r>
                        <a:rPr lang="en-US" sz="1800" b="0" i="0" kern="1200" dirty="0">
                          <a:solidFill>
                            <a:schemeClr val="dk1"/>
                          </a:solidFill>
                          <a:effectLst/>
                          <a:latin typeface="+mn-lt"/>
                          <a:ea typeface="+mn-ea"/>
                          <a:cs typeface="+mn-cs"/>
                        </a:rPr>
                        <a:t>. While lossy compression achieves higher compression ratios, it results in some loss of image quality. When a lossy compressed image is decompressed, there may be a slight degradation in visual quality compared to the original image.</a:t>
                      </a:r>
                      <a:endParaRPr lang="en-US" dirty="0"/>
                    </a:p>
                  </a:txBody>
                  <a:tcPr/>
                </a:tc>
                <a:extLst>
                  <a:ext uri="{0D108BD9-81ED-4DB2-BD59-A6C34878D82A}">
                    <a16:rowId xmlns:a16="http://schemas.microsoft.com/office/drawing/2014/main" val="1339545373"/>
                  </a:ext>
                </a:extLst>
              </a:tr>
            </a:tbl>
          </a:graphicData>
        </a:graphic>
      </p:graphicFrame>
    </p:spTree>
    <p:extLst>
      <p:ext uri="{BB962C8B-B14F-4D97-AF65-F5344CB8AC3E}">
        <p14:creationId xmlns:p14="http://schemas.microsoft.com/office/powerpoint/2010/main" val="11933099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4E333BB-4C64-B6BE-123A-A82385B65211}"/>
              </a:ext>
            </a:extLst>
          </p:cNvPr>
          <p:cNvSpPr>
            <a:spLocks noGrp="1"/>
          </p:cNvSpPr>
          <p:nvPr>
            <p:ph type="title"/>
          </p:nvPr>
        </p:nvSpPr>
        <p:spPr>
          <a:xfrm>
            <a:off x="913795" y="609600"/>
            <a:ext cx="10353761" cy="1326321"/>
          </a:xfrm>
        </p:spPr>
        <p:txBody>
          <a:bodyPr>
            <a:normAutofit/>
          </a:bodyPr>
          <a:lstStyle/>
          <a:p>
            <a:r>
              <a:rPr lang="en-US" dirty="0"/>
              <a:t>Wavelet transform</a:t>
            </a:r>
          </a:p>
        </p:txBody>
      </p:sp>
      <p:pic>
        <p:nvPicPr>
          <p:cNvPr id="5" name="Resim 4" descr="metin, çizgi, yazı tipi, diyagram içeren bir resim&#10;&#10;Açıklama otomatik olarak oluşturuldu">
            <a:extLst>
              <a:ext uri="{FF2B5EF4-FFF2-40B4-BE49-F238E27FC236}">
                <a16:creationId xmlns:a16="http://schemas.microsoft.com/office/drawing/2014/main" id="{BC61AD3F-BA8A-EB56-EFE9-1B42F43D2DBE}"/>
              </a:ext>
            </a:extLst>
          </p:cNvPr>
          <p:cNvPicPr>
            <a:picLocks noChangeAspect="1"/>
          </p:cNvPicPr>
          <p:nvPr/>
        </p:nvPicPr>
        <p:blipFill rotWithShape="1">
          <a:blip r:embed="rId3"/>
          <a:srcRect r="-1" b="2987"/>
          <a:stretch/>
        </p:blipFill>
        <p:spPr>
          <a:xfrm>
            <a:off x="1017388" y="2210935"/>
            <a:ext cx="4833257" cy="3493180"/>
          </a:xfrm>
          <a:prstGeom prst="rect">
            <a:avLst/>
          </a:prstGeom>
          <a:ln w="190500" cap="sq">
            <a:solidFill>
              <a:srgbClr val="FFFFFF"/>
            </a:solidFill>
            <a:miter lim="800000"/>
          </a:ln>
          <a:effectLst>
            <a:outerShdw blurRad="54991" dist="17780" dir="5400000" algn="ctr" rotWithShape="0">
              <a:schemeClr val="bg1">
                <a:alpha val="40000"/>
              </a:schemeClr>
            </a:outerShdw>
          </a:effectLst>
          <a:scene3d>
            <a:camera prst="orthographicFront"/>
            <a:lightRig rig="twoPt" dir="t">
              <a:rot lat="0" lon="0" rev="7200000"/>
            </a:lightRig>
          </a:scene3d>
          <a:sp3d>
            <a:bevelT w="25400" h="19050"/>
          </a:sp3d>
        </p:spPr>
      </p:pic>
      <p:sp>
        <p:nvSpPr>
          <p:cNvPr id="3" name="İçerik Yer Tutucusu 2">
            <a:extLst>
              <a:ext uri="{FF2B5EF4-FFF2-40B4-BE49-F238E27FC236}">
                <a16:creationId xmlns:a16="http://schemas.microsoft.com/office/drawing/2014/main" id="{B74FF0A2-BA7B-817B-5399-E4E68FE4104F}"/>
              </a:ext>
            </a:extLst>
          </p:cNvPr>
          <p:cNvSpPr>
            <a:spLocks noGrp="1"/>
          </p:cNvSpPr>
          <p:nvPr>
            <p:ph idx="1"/>
          </p:nvPr>
        </p:nvSpPr>
        <p:spPr>
          <a:xfrm>
            <a:off x="6250695" y="2096064"/>
            <a:ext cx="5016860" cy="3695136"/>
          </a:xfrm>
        </p:spPr>
        <p:txBody>
          <a:bodyPr>
            <a:normAutofit/>
          </a:bodyPr>
          <a:lstStyle/>
          <a:p>
            <a:r>
              <a:rPr lang="en-US" b="0" i="0" dirty="0">
                <a:effectLst/>
                <a:latin typeface="Söhne"/>
              </a:rPr>
              <a:t>Wavelet transform is a mathematical technique that breaks down signals or images into smaller components called wavelets. These wavelets capture different frequency components and allow for analyzing signals at different scales. The transform provides a multiresolution representation, capturing both global and local characteristics of the signal or image.</a:t>
            </a:r>
          </a:p>
          <a:p>
            <a:endParaRPr lang="en-US" dirty="0"/>
          </a:p>
        </p:txBody>
      </p:sp>
    </p:spTree>
    <p:extLst>
      <p:ext uri="{BB962C8B-B14F-4D97-AF65-F5344CB8AC3E}">
        <p14:creationId xmlns:p14="http://schemas.microsoft.com/office/powerpoint/2010/main" val="9489175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82CB8D8-7E9A-6FEC-F22C-29B7ACB4B3C1}"/>
              </a:ext>
            </a:extLst>
          </p:cNvPr>
          <p:cNvSpPr>
            <a:spLocks noGrp="1"/>
          </p:cNvSpPr>
          <p:nvPr>
            <p:ph type="title"/>
          </p:nvPr>
        </p:nvSpPr>
        <p:spPr/>
        <p:txBody>
          <a:bodyPr/>
          <a:lstStyle/>
          <a:p>
            <a:r>
              <a:rPr lang="en-US" dirty="0"/>
              <a:t>Wavelet-based </a:t>
            </a:r>
            <a:r>
              <a:rPr lang="en-US" dirty="0" err="1"/>
              <a:t>ımage</a:t>
            </a:r>
            <a:r>
              <a:rPr lang="en-US" dirty="0"/>
              <a:t> </a:t>
            </a:r>
            <a:r>
              <a:rPr lang="en-US" dirty="0" err="1"/>
              <a:t>compressıon</a:t>
            </a:r>
            <a:endParaRPr lang="en-US" dirty="0"/>
          </a:p>
        </p:txBody>
      </p:sp>
      <p:sp>
        <p:nvSpPr>
          <p:cNvPr id="3" name="İçerik Yer Tutucusu 2">
            <a:extLst>
              <a:ext uri="{FF2B5EF4-FFF2-40B4-BE49-F238E27FC236}">
                <a16:creationId xmlns:a16="http://schemas.microsoft.com/office/drawing/2014/main" id="{8E6040BC-A4DB-9A7C-2FB2-C9C1A9435F59}"/>
              </a:ext>
            </a:extLst>
          </p:cNvPr>
          <p:cNvSpPr>
            <a:spLocks noGrp="1"/>
          </p:cNvSpPr>
          <p:nvPr>
            <p:ph idx="1"/>
          </p:nvPr>
        </p:nvSpPr>
        <p:spPr/>
        <p:txBody>
          <a:bodyPr/>
          <a:lstStyle/>
          <a:p>
            <a:r>
              <a:rPr lang="en-US" b="0" i="0" dirty="0">
                <a:solidFill>
                  <a:srgbClr val="BDB7AF"/>
                </a:solidFill>
                <a:effectLst/>
                <a:latin typeface="Söhne"/>
              </a:rPr>
              <a:t>Wavelet-based image compression is a technique that uses wavelet transforms to decompose an image into different frequency bands. The low-frequency components represent the coarse structure, while the high-frequency components capture fine details. By discarding or quantizing the less important high-frequency components, the image can be compressed. The compressed data is then encoded and can be reconstructed by applying inverse wavelet transforms.</a:t>
            </a:r>
            <a:endParaRPr lang="en-US" dirty="0"/>
          </a:p>
        </p:txBody>
      </p:sp>
    </p:spTree>
    <p:extLst>
      <p:ext uri="{BB962C8B-B14F-4D97-AF65-F5344CB8AC3E}">
        <p14:creationId xmlns:p14="http://schemas.microsoft.com/office/powerpoint/2010/main" val="26758750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ADBFB3F-D52B-56AF-E053-658F089108F0}"/>
              </a:ext>
            </a:extLst>
          </p:cNvPr>
          <p:cNvSpPr>
            <a:spLocks noGrp="1"/>
          </p:cNvSpPr>
          <p:nvPr>
            <p:ph type="title"/>
          </p:nvPr>
        </p:nvSpPr>
        <p:spPr/>
        <p:txBody>
          <a:bodyPr/>
          <a:lstStyle/>
          <a:p>
            <a:endParaRPr lang="en-US"/>
          </a:p>
        </p:txBody>
      </p:sp>
      <p:pic>
        <p:nvPicPr>
          <p:cNvPr id="5" name="İçerik Yer Tutucusu 4">
            <a:extLst>
              <a:ext uri="{FF2B5EF4-FFF2-40B4-BE49-F238E27FC236}">
                <a16:creationId xmlns:a16="http://schemas.microsoft.com/office/drawing/2014/main" id="{3EB25D7D-8E61-7524-DEFC-6D83711935CF}"/>
              </a:ext>
            </a:extLst>
          </p:cNvPr>
          <p:cNvPicPr>
            <a:picLocks noGrp="1" noChangeAspect="1"/>
          </p:cNvPicPr>
          <p:nvPr>
            <p:ph idx="1"/>
          </p:nvPr>
        </p:nvPicPr>
        <p:blipFill>
          <a:blip r:embed="rId2"/>
          <a:stretch>
            <a:fillRect/>
          </a:stretch>
        </p:blipFill>
        <p:spPr>
          <a:xfrm>
            <a:off x="2478554" y="3194245"/>
            <a:ext cx="3435655" cy="3455668"/>
          </a:xfrm>
        </p:spPr>
      </p:pic>
      <p:pic>
        <p:nvPicPr>
          <p:cNvPr id="7" name="Resim 6">
            <a:extLst>
              <a:ext uri="{FF2B5EF4-FFF2-40B4-BE49-F238E27FC236}">
                <a16:creationId xmlns:a16="http://schemas.microsoft.com/office/drawing/2014/main" id="{7F555B40-CDB2-9256-1689-CC7E4FDE88BD}"/>
              </a:ext>
            </a:extLst>
          </p:cNvPr>
          <p:cNvPicPr>
            <a:picLocks noChangeAspect="1"/>
          </p:cNvPicPr>
          <p:nvPr/>
        </p:nvPicPr>
        <p:blipFill>
          <a:blip r:embed="rId3"/>
          <a:stretch>
            <a:fillRect/>
          </a:stretch>
        </p:blipFill>
        <p:spPr>
          <a:xfrm>
            <a:off x="2718354" y="702261"/>
            <a:ext cx="6744641" cy="2467319"/>
          </a:xfrm>
          <a:prstGeom prst="rect">
            <a:avLst/>
          </a:prstGeom>
        </p:spPr>
      </p:pic>
      <p:pic>
        <p:nvPicPr>
          <p:cNvPr id="11" name="Resim 10">
            <a:extLst>
              <a:ext uri="{FF2B5EF4-FFF2-40B4-BE49-F238E27FC236}">
                <a16:creationId xmlns:a16="http://schemas.microsoft.com/office/drawing/2014/main" id="{A1F1D611-54AF-A465-52DD-3B9297F21C6F}"/>
              </a:ext>
            </a:extLst>
          </p:cNvPr>
          <p:cNvPicPr>
            <a:picLocks noChangeAspect="1"/>
          </p:cNvPicPr>
          <p:nvPr/>
        </p:nvPicPr>
        <p:blipFill>
          <a:blip r:embed="rId4"/>
          <a:stretch>
            <a:fillRect/>
          </a:stretch>
        </p:blipFill>
        <p:spPr>
          <a:xfrm>
            <a:off x="6277792" y="3204252"/>
            <a:ext cx="3435655" cy="3435655"/>
          </a:xfrm>
          <a:prstGeom prst="rect">
            <a:avLst/>
          </a:prstGeom>
        </p:spPr>
      </p:pic>
    </p:spTree>
    <p:extLst>
      <p:ext uri="{BB962C8B-B14F-4D97-AF65-F5344CB8AC3E}">
        <p14:creationId xmlns:p14="http://schemas.microsoft.com/office/powerpoint/2010/main" val="5370760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D093DDD-4B63-28E7-FE60-56598300612F}"/>
              </a:ext>
            </a:extLst>
          </p:cNvPr>
          <p:cNvSpPr>
            <a:spLocks noGrp="1"/>
          </p:cNvSpPr>
          <p:nvPr>
            <p:ph type="title"/>
          </p:nvPr>
        </p:nvSpPr>
        <p:spPr/>
        <p:txBody>
          <a:bodyPr/>
          <a:lstStyle/>
          <a:p>
            <a:r>
              <a:rPr lang="en-US" dirty="0"/>
              <a:t>Importance of thresholding</a:t>
            </a:r>
          </a:p>
        </p:txBody>
      </p:sp>
      <p:pic>
        <p:nvPicPr>
          <p:cNvPr id="5" name="İçerik Yer Tutucusu 4">
            <a:extLst>
              <a:ext uri="{FF2B5EF4-FFF2-40B4-BE49-F238E27FC236}">
                <a16:creationId xmlns:a16="http://schemas.microsoft.com/office/drawing/2014/main" id="{88899F60-34FF-0AFE-2EBA-D470E3618DA5}"/>
              </a:ext>
            </a:extLst>
          </p:cNvPr>
          <p:cNvPicPr>
            <a:picLocks noGrp="1" noChangeAspect="1"/>
          </p:cNvPicPr>
          <p:nvPr>
            <p:ph idx="1"/>
          </p:nvPr>
        </p:nvPicPr>
        <p:blipFill>
          <a:blip r:embed="rId2"/>
          <a:stretch>
            <a:fillRect/>
          </a:stretch>
        </p:blipFill>
        <p:spPr>
          <a:xfrm>
            <a:off x="3469146" y="1935921"/>
            <a:ext cx="5243058" cy="3695700"/>
          </a:xfrm>
        </p:spPr>
      </p:pic>
    </p:spTree>
    <p:extLst>
      <p:ext uri="{BB962C8B-B14F-4D97-AF65-F5344CB8AC3E}">
        <p14:creationId xmlns:p14="http://schemas.microsoft.com/office/powerpoint/2010/main" val="29876978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0C29F84-B8E6-2416-716C-7E4336762150}"/>
              </a:ext>
            </a:extLst>
          </p:cNvPr>
          <p:cNvSpPr>
            <a:spLocks noGrp="1"/>
          </p:cNvSpPr>
          <p:nvPr>
            <p:ph type="title"/>
          </p:nvPr>
        </p:nvSpPr>
        <p:spPr/>
        <p:txBody>
          <a:bodyPr/>
          <a:lstStyle/>
          <a:p>
            <a:r>
              <a:rPr lang="en-US" dirty="0"/>
              <a:t>References</a:t>
            </a:r>
          </a:p>
        </p:txBody>
      </p:sp>
      <p:sp>
        <p:nvSpPr>
          <p:cNvPr id="3" name="İçerik Yer Tutucusu 2">
            <a:extLst>
              <a:ext uri="{FF2B5EF4-FFF2-40B4-BE49-F238E27FC236}">
                <a16:creationId xmlns:a16="http://schemas.microsoft.com/office/drawing/2014/main" id="{8CD006D9-28C0-94B6-1F28-F0471180441E}"/>
              </a:ext>
            </a:extLst>
          </p:cNvPr>
          <p:cNvSpPr>
            <a:spLocks noGrp="1"/>
          </p:cNvSpPr>
          <p:nvPr>
            <p:ph idx="1"/>
          </p:nvPr>
        </p:nvSpPr>
        <p:spPr/>
        <p:txBody>
          <a:bodyPr/>
          <a:lstStyle/>
          <a:p>
            <a:r>
              <a:rPr lang="en-US" b="0" i="1" dirty="0" err="1">
                <a:solidFill>
                  <a:srgbClr val="9E9689"/>
                </a:solidFill>
                <a:effectLst/>
                <a:latin typeface="sohne"/>
              </a:rPr>
              <a:t>Parida</a:t>
            </a:r>
            <a:r>
              <a:rPr lang="en-US" b="0" i="1" dirty="0">
                <a:solidFill>
                  <a:srgbClr val="9E9689"/>
                </a:solidFill>
                <a:effectLst/>
                <a:latin typeface="sohne"/>
              </a:rPr>
              <a:t> et al. , 2017. Wavelet based transition region extraction for image segmentation. Future Computing and Informatics Journal.</a:t>
            </a:r>
          </a:p>
          <a:p>
            <a:r>
              <a:rPr lang="en-US" dirty="0">
                <a:hlinkClick r:id="rId2"/>
              </a:rPr>
              <a:t>https://www.mathworks.com/help/wavelet/ref/ewt.html</a:t>
            </a:r>
            <a:endParaRPr lang="en-US" i="1" dirty="0">
              <a:solidFill>
                <a:srgbClr val="9E9689"/>
              </a:solidFill>
              <a:effectLst/>
              <a:latin typeface="sohne"/>
            </a:endParaRPr>
          </a:p>
          <a:p>
            <a:r>
              <a:rPr lang="en-US" dirty="0">
                <a:hlinkClick r:id="rId3"/>
              </a:rPr>
              <a:t>https://en.wikipedia.org/wiki/Wavelet_transform</a:t>
            </a:r>
            <a:endParaRPr lang="en-US" i="1" dirty="0">
              <a:solidFill>
                <a:srgbClr val="9E9689"/>
              </a:solidFill>
              <a:effectLst/>
              <a:latin typeface="sohne"/>
            </a:endParaRPr>
          </a:p>
          <a:p>
            <a:r>
              <a:rPr lang="en-US" b="0" i="0" dirty="0">
                <a:solidFill>
                  <a:srgbClr val="CECAC3"/>
                </a:solidFill>
                <a:effectLst/>
                <a:latin typeface="source-serif-pro"/>
              </a:rPr>
              <a:t>A. Al </a:t>
            </a:r>
            <a:r>
              <a:rPr lang="en-US" b="0" i="0" dirty="0" err="1">
                <a:solidFill>
                  <a:srgbClr val="CECAC3"/>
                </a:solidFill>
                <a:effectLst/>
                <a:latin typeface="source-serif-pro"/>
              </a:rPr>
              <a:t>Jumah</a:t>
            </a:r>
            <a:r>
              <a:rPr lang="en-US" b="0" i="0" dirty="0">
                <a:solidFill>
                  <a:srgbClr val="CECAC3"/>
                </a:solidFill>
                <a:effectLst/>
                <a:latin typeface="source-serif-pro"/>
              </a:rPr>
              <a:t>, “Denoising of an Image Using Discrete Stationary Wavelet Transform and Various Thresholding Techniques,” </a:t>
            </a:r>
            <a:r>
              <a:rPr lang="en-US" b="0" i="1" dirty="0">
                <a:solidFill>
                  <a:srgbClr val="CECAC3"/>
                </a:solidFill>
                <a:effectLst/>
                <a:latin typeface="source-serif-pro"/>
              </a:rPr>
              <a:t>Journal of Signal and Information Processing</a:t>
            </a:r>
            <a:r>
              <a:rPr lang="en-US" b="0" i="0" dirty="0">
                <a:solidFill>
                  <a:srgbClr val="CECAC3"/>
                </a:solidFill>
                <a:effectLst/>
                <a:latin typeface="source-serif-pro"/>
              </a:rPr>
              <a:t>, Vol. 4 No1, 2013, pp. 33–41. </a:t>
            </a:r>
            <a:r>
              <a:rPr lang="en-US" b="0" i="0" dirty="0" err="1">
                <a:solidFill>
                  <a:srgbClr val="CECAC3"/>
                </a:solidFill>
                <a:effectLst/>
                <a:latin typeface="source-serif-pro"/>
              </a:rPr>
              <a:t>doi</a:t>
            </a:r>
            <a:r>
              <a:rPr lang="en-US" b="0" i="0" dirty="0">
                <a:solidFill>
                  <a:srgbClr val="CECAC3"/>
                </a:solidFill>
                <a:effectLst/>
                <a:latin typeface="source-serif-pro"/>
              </a:rPr>
              <a:t>: </a:t>
            </a:r>
            <a:r>
              <a:rPr lang="en-US" b="0" i="0" u="sng" dirty="0">
                <a:effectLst/>
                <a:latin typeface="source-serif-pro"/>
                <a:hlinkClick r:id="rId4"/>
              </a:rPr>
              <a:t>10.4236/jsip.2013.41004</a:t>
            </a:r>
            <a:endParaRPr lang="en-US" b="0" i="0" u="sng" dirty="0">
              <a:effectLst/>
              <a:latin typeface="source-serif-pro"/>
            </a:endParaRPr>
          </a:p>
          <a:p>
            <a:r>
              <a:rPr lang="en-US" dirty="0">
                <a:hlinkClick r:id="rId5"/>
              </a:rPr>
              <a:t>https://en.wikipedia.org/wiki/Image_compression</a:t>
            </a:r>
            <a:endParaRPr lang="en-US" dirty="0"/>
          </a:p>
          <a:p>
            <a:endParaRPr lang="en-US" dirty="0"/>
          </a:p>
        </p:txBody>
      </p:sp>
    </p:spTree>
    <p:extLst>
      <p:ext uri="{BB962C8B-B14F-4D97-AF65-F5344CB8AC3E}">
        <p14:creationId xmlns:p14="http://schemas.microsoft.com/office/powerpoint/2010/main" val="270705785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742332"/>
      </a:dk2>
      <a:lt2>
        <a:srgbClr val="EE91A0"/>
      </a:lt2>
      <a:accent1>
        <a:srgbClr val="E03754"/>
      </a:accent1>
      <a:accent2>
        <a:srgbClr val="E86C2E"/>
      </a:accent2>
      <a:accent3>
        <a:srgbClr val="DAB250"/>
      </a:accent3>
      <a:accent4>
        <a:srgbClr val="60C4AA"/>
      </a:accent4>
      <a:accent5>
        <a:srgbClr val="51A9DB"/>
      </a:accent5>
      <a:accent6>
        <a:srgbClr val="976AC9"/>
      </a:accent6>
      <a:hlink>
        <a:srgbClr val="D5445E"/>
      </a:hlink>
      <a:folHlink>
        <a:srgbClr val="E17C8E"/>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6B2E858E-683F-40D9-B4CB-284D097F3AC0}"/>
    </a:ext>
  </a:extLst>
</a:theme>
</file>

<file path=docProps/app.xml><?xml version="1.0" encoding="utf-8"?>
<Properties xmlns="http://schemas.openxmlformats.org/officeDocument/2006/extended-properties" xmlns:vt="http://schemas.openxmlformats.org/officeDocument/2006/docPropsVTypes">
  <Template>TM04033921[[fn=Damask]]</Template>
  <TotalTime>554</TotalTime>
  <Words>467</Words>
  <Application>Microsoft Office PowerPoint</Application>
  <PresentationFormat>Geniş ekran</PresentationFormat>
  <Paragraphs>21</Paragraphs>
  <Slides>8</Slides>
  <Notes>0</Notes>
  <HiddenSlides>0</HiddenSlides>
  <MMClips>0</MMClips>
  <ScaleCrop>false</ScaleCrop>
  <HeadingPairs>
    <vt:vector size="6" baseType="variant">
      <vt:variant>
        <vt:lpstr>Kullanılan Yazı Tipleri</vt:lpstr>
      </vt:variant>
      <vt:variant>
        <vt:i4>6</vt:i4>
      </vt:variant>
      <vt:variant>
        <vt:lpstr>Tema</vt:lpstr>
      </vt:variant>
      <vt:variant>
        <vt:i4>1</vt:i4>
      </vt:variant>
      <vt:variant>
        <vt:lpstr>Slayt Başlıkları</vt:lpstr>
      </vt:variant>
      <vt:variant>
        <vt:i4>8</vt:i4>
      </vt:variant>
    </vt:vector>
  </HeadingPairs>
  <TitlesOfParts>
    <vt:vector size="15" baseType="lpstr">
      <vt:lpstr>Arial</vt:lpstr>
      <vt:lpstr>Bookman Old Style</vt:lpstr>
      <vt:lpstr>Rockwell</vt:lpstr>
      <vt:lpstr>sohne</vt:lpstr>
      <vt:lpstr>Söhne</vt:lpstr>
      <vt:lpstr>source-serif-pro</vt:lpstr>
      <vt:lpstr>Damask</vt:lpstr>
      <vt:lpstr>Image compressıon</vt:lpstr>
      <vt:lpstr>What ıs ımage compressıon?</vt:lpstr>
      <vt:lpstr>Lossless vs. lossy</vt:lpstr>
      <vt:lpstr>Wavelet transform</vt:lpstr>
      <vt:lpstr>Wavelet-based ımage compressıon</vt:lpstr>
      <vt:lpstr>PowerPoint Sunusu</vt:lpstr>
      <vt:lpstr>Importance of thresholding</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Image compressıon</dc:title>
  <dc:creator>Seyma Serttas</dc:creator>
  <cp:lastModifiedBy>Seyma Serttas</cp:lastModifiedBy>
  <cp:revision>4</cp:revision>
  <dcterms:created xsi:type="dcterms:W3CDTF">2023-06-08T03:29:37Z</dcterms:created>
  <dcterms:modified xsi:type="dcterms:W3CDTF">2023-06-08T12:44:04Z</dcterms:modified>
</cp:coreProperties>
</file>